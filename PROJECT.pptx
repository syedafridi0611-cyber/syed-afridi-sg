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6" r:id="rId3"/>
    <p:sldId id="265" r:id="rId4"/>
    <p:sldId id="271" r:id="rId5"/>
    <p:sldId id="270" r:id="rId6"/>
    <p:sldId id="284" r:id="rId7"/>
    <p:sldId id="287" r:id="rId8"/>
    <p:sldId id="288" r:id="rId9"/>
    <p:sldId id="289" r:id="rId10"/>
    <p:sldId id="298" r:id="rId11"/>
    <p:sldId id="294" r:id="rId12"/>
    <p:sldId id="295" r:id="rId13"/>
    <p:sldId id="299" r:id="rId14"/>
    <p:sldId id="290" r:id="rId15"/>
    <p:sldId id="292" r:id="rId16"/>
    <p:sldId id="278" r:id="rId17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0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355A93-7E49-4B27-918C-988B48E6A088}" v="6" dt="2026-03-29T15:21:13.1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4660"/>
  </p:normalViewPr>
  <p:slideViewPr>
    <p:cSldViewPr snapToGrid="0">
      <p:cViewPr varScale="1">
        <p:scale>
          <a:sx n="89" d="100"/>
          <a:sy n="89" d="100"/>
        </p:scale>
        <p:origin x="45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ed Afridi" userId="a7bea3d9baba34b2" providerId="LiveId" clId="{96E922BF-C1D3-4705-80EE-C9CCE7011C36}"/>
    <pc:docChg chg="undo custSel addSld delSld modSld sldOrd">
      <pc:chgData name="Syed Afridi" userId="a7bea3d9baba34b2" providerId="LiveId" clId="{96E922BF-C1D3-4705-80EE-C9CCE7011C36}" dt="2026-03-30T09:57:05.817" v="1062" actId="47"/>
      <pc:docMkLst>
        <pc:docMk/>
      </pc:docMkLst>
      <pc:sldChg chg="modSp mod">
        <pc:chgData name="Syed Afridi" userId="a7bea3d9baba34b2" providerId="LiveId" clId="{96E922BF-C1D3-4705-80EE-C9CCE7011C36}" dt="2026-03-29T15:20:34.277" v="1005" actId="20577"/>
        <pc:sldMkLst>
          <pc:docMk/>
          <pc:sldMk cId="0" sldId="290"/>
        </pc:sldMkLst>
        <pc:graphicFrameChg chg="modGraphic">
          <ac:chgData name="Syed Afridi" userId="a7bea3d9baba34b2" providerId="LiveId" clId="{96E922BF-C1D3-4705-80EE-C9CCE7011C36}" dt="2026-03-29T15:20:34.277" v="1005" actId="20577"/>
          <ac:graphicFrameMkLst>
            <pc:docMk/>
            <pc:sldMk cId="0" sldId="290"/>
            <ac:graphicFrameMk id="4" creationId="{51463E2D-C1BD-BEDA-473E-97A25BB6B51E}"/>
          </ac:graphicFrameMkLst>
        </pc:graphicFrameChg>
      </pc:sldChg>
      <pc:sldChg chg="modSp mod">
        <pc:chgData name="Syed Afridi" userId="a7bea3d9baba34b2" providerId="LiveId" clId="{96E922BF-C1D3-4705-80EE-C9CCE7011C36}" dt="2026-03-29T15:21:13.128" v="1040"/>
        <pc:sldMkLst>
          <pc:docMk/>
          <pc:sldMk cId="0" sldId="292"/>
        </pc:sldMkLst>
        <pc:graphicFrameChg chg="mod modGraphic">
          <ac:chgData name="Syed Afridi" userId="a7bea3d9baba34b2" providerId="LiveId" clId="{96E922BF-C1D3-4705-80EE-C9CCE7011C36}" dt="2026-03-29T15:21:13.128" v="1040"/>
          <ac:graphicFrameMkLst>
            <pc:docMk/>
            <pc:sldMk cId="0" sldId="292"/>
            <ac:graphicFrameMk id="5" creationId="{2413209C-67BF-019D-92D2-1325DE184491}"/>
          </ac:graphicFrameMkLst>
        </pc:graphicFrameChg>
      </pc:sldChg>
      <pc:sldChg chg="del">
        <pc:chgData name="Syed Afridi" userId="a7bea3d9baba34b2" providerId="LiveId" clId="{96E922BF-C1D3-4705-80EE-C9CCE7011C36}" dt="2026-03-29T15:19:18.536" v="985" actId="47"/>
        <pc:sldMkLst>
          <pc:docMk/>
          <pc:sldMk cId="1294114583" sldId="293"/>
        </pc:sldMkLst>
      </pc:sldChg>
      <pc:sldChg chg="addSp delSp modSp mod">
        <pc:chgData name="Syed Afridi" userId="a7bea3d9baba34b2" providerId="LiveId" clId="{96E922BF-C1D3-4705-80EE-C9CCE7011C36}" dt="2026-03-29T15:52:04.805" v="1045" actId="478"/>
        <pc:sldMkLst>
          <pc:docMk/>
          <pc:sldMk cId="1196274238" sldId="294"/>
        </pc:sldMkLst>
        <pc:picChg chg="add mod">
          <ac:chgData name="Syed Afridi" userId="a7bea3d9baba34b2" providerId="LiveId" clId="{96E922BF-C1D3-4705-80EE-C9CCE7011C36}" dt="2026-03-29T15:52:01.222" v="1044" actId="1076"/>
          <ac:picMkLst>
            <pc:docMk/>
            <pc:sldMk cId="1196274238" sldId="294"/>
            <ac:picMk id="3" creationId="{3E8F70AF-2EA8-5F23-4204-4D57599924A9}"/>
          </ac:picMkLst>
        </pc:picChg>
        <pc:picChg chg="del">
          <ac:chgData name="Syed Afridi" userId="a7bea3d9baba34b2" providerId="LiveId" clId="{96E922BF-C1D3-4705-80EE-C9CCE7011C36}" dt="2026-03-29T15:52:04.805" v="1045" actId="478"/>
          <ac:picMkLst>
            <pc:docMk/>
            <pc:sldMk cId="1196274238" sldId="294"/>
            <ac:picMk id="8" creationId="{9B1A60BD-347B-A0CB-51AF-AB35FE4AF6A1}"/>
          </ac:picMkLst>
        </pc:picChg>
      </pc:sldChg>
      <pc:sldChg chg="del ord">
        <pc:chgData name="Syed Afridi" userId="a7bea3d9baba34b2" providerId="LiveId" clId="{96E922BF-C1D3-4705-80EE-C9CCE7011C36}" dt="2026-03-30T09:57:05.817" v="1062" actId="47"/>
        <pc:sldMkLst>
          <pc:docMk/>
          <pc:sldMk cId="74657411" sldId="296"/>
        </pc:sldMkLst>
      </pc:sldChg>
      <pc:sldChg chg="new del">
        <pc:chgData name="Syed Afridi" userId="a7bea3d9baba34b2" providerId="LiveId" clId="{96E922BF-C1D3-4705-80EE-C9CCE7011C36}" dt="2026-03-29T15:20:07.513" v="987" actId="47"/>
        <pc:sldMkLst>
          <pc:docMk/>
          <pc:sldMk cId="4099785928" sldId="297"/>
        </pc:sldMkLst>
      </pc:sldChg>
      <pc:sldChg chg="addSp modSp new mod">
        <pc:chgData name="Syed Afridi" userId="a7bea3d9baba34b2" providerId="LiveId" clId="{96E922BF-C1D3-4705-80EE-C9CCE7011C36}" dt="2026-03-29T15:19:48.863" v="986" actId="931"/>
        <pc:sldMkLst>
          <pc:docMk/>
          <pc:sldMk cId="2690249039" sldId="298"/>
        </pc:sldMkLst>
        <pc:picChg chg="add mod">
          <ac:chgData name="Syed Afridi" userId="a7bea3d9baba34b2" providerId="LiveId" clId="{96E922BF-C1D3-4705-80EE-C9CCE7011C36}" dt="2026-03-29T15:19:48.863" v="986" actId="931"/>
          <ac:picMkLst>
            <pc:docMk/>
            <pc:sldMk cId="2690249039" sldId="298"/>
            <ac:picMk id="3" creationId="{253D0538-F2DD-679F-E740-880AF051C400}"/>
          </ac:picMkLst>
        </pc:picChg>
      </pc:sldChg>
      <pc:sldChg chg="addSp modSp new mod">
        <pc:chgData name="Syed Afridi" userId="a7bea3d9baba34b2" providerId="LiveId" clId="{96E922BF-C1D3-4705-80EE-C9CCE7011C36}" dt="2026-03-29T15:55:25.301" v="1059" actId="1076"/>
        <pc:sldMkLst>
          <pc:docMk/>
          <pc:sldMk cId="275928397" sldId="299"/>
        </pc:sldMkLst>
        <pc:spChg chg="add mod">
          <ac:chgData name="Syed Afridi" userId="a7bea3d9baba34b2" providerId="LiveId" clId="{96E922BF-C1D3-4705-80EE-C9CCE7011C36}" dt="2026-03-29T15:55:25.301" v="1059" actId="1076"/>
          <ac:spMkLst>
            <pc:docMk/>
            <pc:sldMk cId="275928397" sldId="299"/>
            <ac:spMk id="5" creationId="{06ECFBD6-D1BD-E748-DA56-7430247FF2DA}"/>
          </ac:spMkLst>
        </pc:spChg>
        <pc:picChg chg="add mod">
          <ac:chgData name="Syed Afridi" userId="a7bea3d9baba34b2" providerId="LiveId" clId="{96E922BF-C1D3-4705-80EE-C9CCE7011C36}" dt="2026-03-29T15:53:47.345" v="1051" actId="1076"/>
          <ac:picMkLst>
            <pc:docMk/>
            <pc:sldMk cId="275928397" sldId="299"/>
            <ac:picMk id="3" creationId="{F0152851-4E43-A123-1842-88D6F99115D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D070F-2B1B-26E5-2C8B-EDC6C3D19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EEB95B-BE30-43F6-B048-20C88F82375C}" type="datetimeFigureOut">
              <a:rPr lang="en-US"/>
              <a:pPr>
                <a:defRPr/>
              </a:pPr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0DCBF-0AAF-2966-CC22-7D508C317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2FA3C-B587-6144-488A-6E893CF86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76168C-0999-4BCD-8659-21985D14D04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1411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8869F7-25AB-F4CE-C169-782B23918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0FBE5B-FB2E-44A4-BA63-AA375D2CC184}" type="datetimeFigureOut">
              <a:rPr lang="en-US"/>
              <a:pPr>
                <a:defRPr/>
              </a:pPr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9A33D-ED95-002F-103E-98993B1A2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BC5A1-3A4A-EFF0-E0F4-D6BDECC33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D608B8-7FE2-4708-8894-CC10A6EFDC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2376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B3498-7911-A5F5-1C77-B14724FA0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F8B232-5046-4AEF-8256-A99700B69275}" type="datetimeFigureOut">
              <a:rPr lang="en-US"/>
              <a:pPr>
                <a:defRPr/>
              </a:pPr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D6E1DA-4306-E8C0-79E0-9E5681EE5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E7516-DEA6-71D1-BDD8-953CD8C00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5F28F8-6241-4C15-8858-868E774CC67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2345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9B23A85-CCDA-F248-7E87-7F72E7BDC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51EB03-0FBD-4350-88DA-DEFC1A40F8EA}" type="datetimeFigureOut">
              <a:rPr lang="en-US"/>
              <a:pPr>
                <a:defRPr/>
              </a:pPr>
              <a:t>3/30/2026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FFFF02E-2F74-E541-0202-30C5BC28D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C0EFF62-B0CF-DF5B-165E-0C5B1BE44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E13C66-0E59-4AD1-8E0F-DFA0FD85830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1344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CEB6EC0-5FF1-1182-4135-C2FD00F34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FA3E45-763D-4FC2-A504-71E86ADCA252}" type="datetimeFigureOut">
              <a:rPr lang="en-US"/>
              <a:pPr>
                <a:defRPr/>
              </a:pPr>
              <a:t>3/30/2026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0383F1B-02D0-9E34-DCD0-8FE9BA8FF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8F797A6-2620-759C-1D9C-0E86CA8BC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548B60-412E-46BB-9CD4-F03BC4DBE3C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6129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80264DE4-53B6-416A-4835-C7DBFE9F8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0F99C7-89EB-4C36-956C-320FEEDC10C7}" type="datetimeFigureOut">
              <a:rPr lang="en-US"/>
              <a:pPr>
                <a:defRPr/>
              </a:pPr>
              <a:t>3/30/2026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0D7B1AC-7E08-6758-6E98-E066903A0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A7AE68F-CBCC-BC80-4B49-FE7366331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A6BA86-E371-4D5F-A2F0-1D93C6B099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8958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8E2EC610-92E2-E5EA-5782-BB2F25BBC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646604-501A-4EF5-BEC1-A05469FD2F13}" type="datetimeFigureOut">
              <a:rPr lang="en-US"/>
              <a:pPr>
                <a:defRPr/>
              </a:pPr>
              <a:t>3/30/2026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372E8A8-0CB4-96F1-9769-1D1F9A22F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7B821CC-7FF9-2427-7FE3-EDAC393A2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BB9064-C848-4D17-A2F5-F9F8D1488CE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3649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14B021D-64ED-6506-A801-30D689334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DA471E-2E78-4CA2-A452-668848ACBF89}" type="datetimeFigureOut">
              <a:rPr lang="en-US"/>
              <a:pPr>
                <a:defRPr/>
              </a:pPr>
              <a:t>3/30/2026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CAC8A8C-1FAC-8BB7-CBC7-490E9328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D9667FB-8415-070A-A62B-D35E5739B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FBB4DE-7A06-48A0-B406-21768F3CAEC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5866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DE3639A-6329-EEEA-CE6B-2040E9648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EB8323-706A-475A-B17C-95D566891A8A}" type="datetimeFigureOut">
              <a:rPr lang="en-US"/>
              <a:pPr>
                <a:defRPr/>
              </a:pPr>
              <a:t>3/30/2026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3B2A9A7-EE80-9DC1-8C42-A4C64D95D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6A01728-CCD5-22C3-8EB0-4D6FF1853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599774-3EF0-4DA6-948A-DF752FA538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2072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5B224-E712-2239-B18F-9DCE731CC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E38477-EE6F-41B2-A848-D5A5D7E11750}" type="datetimeFigureOut">
              <a:rPr lang="en-US"/>
              <a:pPr>
                <a:defRPr/>
              </a:pPr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AF7BC-EB0E-6B0B-262A-AF971B0BD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DD70A-213F-117D-1BF1-EDD1EEAE2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C93D3C-851F-401E-92BF-31C2326D9DC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6275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384EE-8938-9972-36E0-5884DF09E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257B97-3EDB-4FFC-A80B-178CD007973C}" type="datetimeFigureOut">
              <a:rPr lang="en-US"/>
              <a:pPr>
                <a:defRPr/>
              </a:pPr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F222D-5967-DAC5-A86B-548D3F449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34FC7-1FE0-A442-0A66-050E1DBDE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9E4A9D-998F-4C2D-B222-065EA24B3A2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9460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1B1D957B-9C12-9F14-E840-9B4C5DBFA8F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6E85325E-F4DD-A580-06DC-7F836B4E6B3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9F23A-9763-721D-809D-A0FD2F1948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8F8F778-E61F-4C4A-860D-61879D93EEF6}" type="datetimeFigureOut">
              <a:rPr lang="en-US"/>
              <a:pPr>
                <a:defRPr/>
              </a:pPr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0102B-871C-74A3-5440-7AF9C29741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FA5BB-4CF4-7F39-26E7-D917DF3E3D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6CD4F4B0-B958-48F2-B4DD-377FFE095DC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4969DE-04EF-88D6-23CB-9FD75763E8C5}"/>
              </a:ext>
            </a:extLst>
          </p:cNvPr>
          <p:cNvSpPr/>
          <p:nvPr/>
        </p:nvSpPr>
        <p:spPr>
          <a:xfrm>
            <a:off x="0" y="6632575"/>
            <a:ext cx="12192000" cy="225425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F31C3F-F960-9E62-3F77-E7A799C9FF08}"/>
              </a:ext>
            </a:extLst>
          </p:cNvPr>
          <p:cNvSpPr/>
          <p:nvPr/>
        </p:nvSpPr>
        <p:spPr>
          <a:xfrm>
            <a:off x="3509963" y="-6350"/>
            <a:ext cx="5172075" cy="12858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2052" name="Group 7">
            <a:extLst>
              <a:ext uri="{FF2B5EF4-FFF2-40B4-BE49-F238E27FC236}">
                <a16:creationId xmlns:a16="http://schemas.microsoft.com/office/drawing/2014/main" id="{61D7D6ED-C3E8-41B2-095E-F42EEE598482}"/>
              </a:ext>
            </a:extLst>
          </p:cNvPr>
          <p:cNvGrpSpPr>
            <a:grpSpLocks/>
          </p:cNvGrpSpPr>
          <p:nvPr/>
        </p:nvGrpSpPr>
        <p:grpSpPr bwMode="auto">
          <a:xfrm>
            <a:off x="982663" y="2817813"/>
            <a:ext cx="9910762" cy="2874962"/>
            <a:chOff x="1010805" y="1951630"/>
            <a:chExt cx="9909681" cy="2874532"/>
          </a:xfrm>
        </p:grpSpPr>
        <p:grpSp>
          <p:nvGrpSpPr>
            <p:cNvPr id="2059" name="Group 5">
              <a:extLst>
                <a:ext uri="{FF2B5EF4-FFF2-40B4-BE49-F238E27FC236}">
                  <a16:creationId xmlns:a16="http://schemas.microsoft.com/office/drawing/2014/main" id="{088E0E80-0CE5-9FA7-D74C-3735216CB6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59634" y="1951630"/>
              <a:ext cx="1477370" cy="1477370"/>
              <a:chOff x="1446662" y="1951630"/>
              <a:chExt cx="1477370" cy="1477370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850C23AB-8306-6129-E4DC-9D8365AD57F2}"/>
                  </a:ext>
                </a:extLst>
              </p:cNvPr>
              <p:cNvSpPr/>
              <p:nvPr/>
            </p:nvSpPr>
            <p:spPr>
              <a:xfrm>
                <a:off x="1447046" y="1951630"/>
                <a:ext cx="1476214" cy="1477741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73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pic>
            <p:nvPicPr>
              <p:cNvPr id="2074" name="Picture 4" descr="Related image">
                <a:extLst>
                  <a:ext uri="{FF2B5EF4-FFF2-40B4-BE49-F238E27FC236}">
                    <a16:creationId xmlns:a16="http://schemas.microsoft.com/office/drawing/2014/main" id="{DB9EC15A-A74D-93BD-2196-95CF728D537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91797" y="2396765"/>
                <a:ext cx="587101" cy="5871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2060" name="Group 4">
              <a:extLst>
                <a:ext uri="{FF2B5EF4-FFF2-40B4-BE49-F238E27FC236}">
                  <a16:creationId xmlns:a16="http://schemas.microsoft.com/office/drawing/2014/main" id="{0F8187CA-9EC5-60CD-D890-AFFF14D965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10805" y="3468429"/>
              <a:ext cx="2320435" cy="1265399"/>
              <a:chOff x="1010805" y="3468429"/>
              <a:chExt cx="2320435" cy="1265399"/>
            </a:xfrm>
          </p:grpSpPr>
          <p:sp>
            <p:nvSpPr>
              <p:cNvPr id="2071" name="TextBox 8">
                <a:extLst>
                  <a:ext uri="{FF2B5EF4-FFF2-40B4-BE49-F238E27FC236}">
                    <a16:creationId xmlns:a16="http://schemas.microsoft.com/office/drawing/2014/main" id="{A80DD313-0D3A-CC5F-54D1-C4DE3C4C21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65398" y="4426051"/>
                <a:ext cx="2265842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1400">
                  <a:latin typeface="Georgia Pro Light" panose="02040302050405020303" pitchFamily="18" charset="0"/>
                </a:endParaRPr>
              </a:p>
            </p:txBody>
          </p:sp>
          <p:sp>
            <p:nvSpPr>
              <p:cNvPr id="2072" name="TextBox 9">
                <a:extLst>
                  <a:ext uri="{FF2B5EF4-FFF2-40B4-BE49-F238E27FC236}">
                    <a16:creationId xmlns:a16="http://schemas.microsoft.com/office/drawing/2014/main" id="{DFD10E92-5337-74C6-0C5F-85501F11C0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10805" y="3468429"/>
                <a:ext cx="2265842" cy="4000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1600" b="1" dirty="0">
                    <a:latin typeface="Georgia" panose="02040502050405020303" pitchFamily="18" charset="0"/>
                  </a:rPr>
                  <a:t>BATCH NO: </a:t>
                </a:r>
                <a:r>
                  <a:rPr lang="en-US" altLang="en-US" sz="2000" b="1" dirty="0">
                    <a:latin typeface="Georgia" panose="02040502050405020303" pitchFamily="18" charset="0"/>
                  </a:rPr>
                  <a:t>1</a:t>
                </a:r>
                <a:r>
                  <a:rPr lang="en-US" altLang="en-US" sz="1600" b="1" dirty="0">
                    <a:latin typeface="Georgia" panose="02040502050405020303" pitchFamily="18" charset="0"/>
                  </a:rPr>
                  <a:t> </a:t>
                </a:r>
              </a:p>
            </p:txBody>
          </p:sp>
        </p:grp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B49668A-9962-5B80-D684-69A37210A907}"/>
                </a:ext>
              </a:extLst>
            </p:cNvPr>
            <p:cNvSpPr/>
            <p:nvPr/>
          </p:nvSpPr>
          <p:spPr>
            <a:xfrm>
              <a:off x="5226745" y="1951630"/>
              <a:ext cx="1477801" cy="1477741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7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grpSp>
          <p:nvGrpSpPr>
            <p:cNvPr id="2062" name="Group 15">
              <a:extLst>
                <a:ext uri="{FF2B5EF4-FFF2-40B4-BE49-F238E27FC236}">
                  <a16:creationId xmlns:a16="http://schemas.microsoft.com/office/drawing/2014/main" id="{5B8D658E-F385-C0BB-7606-43DFE8EBF1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32725" y="3517745"/>
              <a:ext cx="2557420" cy="1268017"/>
              <a:chOff x="1065398" y="3517745"/>
              <a:chExt cx="2557420" cy="1268017"/>
            </a:xfrm>
          </p:grpSpPr>
          <p:sp>
            <p:nvSpPr>
              <p:cNvPr id="2069" name="TextBox 16">
                <a:extLst>
                  <a:ext uri="{FF2B5EF4-FFF2-40B4-BE49-F238E27FC236}">
                    <a16:creationId xmlns:a16="http://schemas.microsoft.com/office/drawing/2014/main" id="{9E9EB70E-5904-6228-A911-4E3007CA07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56976" y="4385651"/>
                <a:ext cx="2265842" cy="4001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70" name="TextBox 17">
                <a:extLst>
                  <a:ext uri="{FF2B5EF4-FFF2-40B4-BE49-F238E27FC236}">
                    <a16:creationId xmlns:a16="http://schemas.microsoft.com/office/drawing/2014/main" id="{A43B3F6F-6C75-9AE1-4F36-F77A7E0F2B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65398" y="3517745"/>
                <a:ext cx="2265842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1600" b="1">
                    <a:latin typeface="Georgia" panose="02040502050405020303" pitchFamily="18" charset="0"/>
                  </a:rPr>
                  <a:t>TEAM MEMBERS</a:t>
                </a:r>
              </a:p>
            </p:txBody>
          </p:sp>
        </p:grp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C40BCF9-9B4F-7988-67A0-9977242C9235}"/>
                </a:ext>
              </a:extLst>
            </p:cNvPr>
            <p:cNvSpPr/>
            <p:nvPr/>
          </p:nvSpPr>
          <p:spPr>
            <a:xfrm>
              <a:off x="8995059" y="1951630"/>
              <a:ext cx="1477801" cy="1477741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7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grpSp>
          <p:nvGrpSpPr>
            <p:cNvPr id="2064" name="Group 22">
              <a:extLst>
                <a:ext uri="{FF2B5EF4-FFF2-40B4-BE49-F238E27FC236}">
                  <a16:creationId xmlns:a16="http://schemas.microsoft.com/office/drawing/2014/main" id="{2E438A0F-9C16-23B6-B9C7-223C9BC7AB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00052" y="3429001"/>
              <a:ext cx="2320434" cy="1397161"/>
              <a:chOff x="1065398" y="3429001"/>
              <a:chExt cx="2320434" cy="1397161"/>
            </a:xfrm>
          </p:grpSpPr>
          <p:sp>
            <p:nvSpPr>
              <p:cNvPr id="2067" name="TextBox 23">
                <a:extLst>
                  <a:ext uri="{FF2B5EF4-FFF2-40B4-BE49-F238E27FC236}">
                    <a16:creationId xmlns:a16="http://schemas.microsoft.com/office/drawing/2014/main" id="{1CE339EB-D4CA-9DA8-E43A-5AB097E2F2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65398" y="4426051"/>
                <a:ext cx="2265842" cy="4001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>
                    <a:srgbClr val="000000"/>
                  </a:buClr>
                  <a:buSzPts val="1400"/>
                  <a:buFont typeface="Arial" panose="020B0604020202020204" pitchFamily="34" charset="0"/>
                  <a:buNone/>
                </a:pPr>
                <a:endParaRPr lang="en-US" altLang="en-US" sz="2000">
                  <a:latin typeface="Times New Roman" panose="02020603050405020304" pitchFamily="18" charset="0"/>
                  <a:ea typeface="Book Antiqua" panose="0204060205030503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68" name="TextBox 24">
                <a:extLst>
                  <a:ext uri="{FF2B5EF4-FFF2-40B4-BE49-F238E27FC236}">
                    <a16:creationId xmlns:a16="http://schemas.microsoft.com/office/drawing/2014/main" id="{BAFB5033-ED8A-A7BD-5DEB-9C45D2CEF4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19990" y="3429001"/>
                <a:ext cx="2265842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1600" b="1">
                    <a:latin typeface="Georgia" panose="02040502050405020303" pitchFamily="18" charset="0"/>
                  </a:rPr>
                  <a:t>SUPERVISOR</a:t>
                </a:r>
              </a:p>
            </p:txBody>
          </p:sp>
        </p:grpSp>
        <p:pic>
          <p:nvPicPr>
            <p:cNvPr id="2065" name="Picture 6" descr="Related image">
              <a:extLst>
                <a:ext uri="{FF2B5EF4-FFF2-40B4-BE49-F238E27FC236}">
                  <a16:creationId xmlns:a16="http://schemas.microsoft.com/office/drawing/2014/main" id="{005E2F9B-BCAD-7EFB-DDF3-2916327B68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74067" y="2398736"/>
              <a:ext cx="583158" cy="583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66" name="Picture 8" descr="Image result for project icon png">
              <a:extLst>
                <a:ext uri="{FF2B5EF4-FFF2-40B4-BE49-F238E27FC236}">
                  <a16:creationId xmlns:a16="http://schemas.microsoft.com/office/drawing/2014/main" id="{048C4D2E-9A9F-C1A8-64B9-38795C5629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59877" y="2362627"/>
              <a:ext cx="655377" cy="6553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053" name="TextBox 10">
            <a:extLst>
              <a:ext uri="{FF2B5EF4-FFF2-40B4-BE49-F238E27FC236}">
                <a16:creationId xmlns:a16="http://schemas.microsoft.com/office/drawing/2014/main" id="{C1DA6667-31C6-6452-FB09-E15E82C0A5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125" y="2270125"/>
            <a:ext cx="12350750" cy="42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en-US" sz="2400" b="1" dirty="0"/>
              <a:t>Design of CMOS LNA for Radio Receiver Using Cadence Simulation Tool</a:t>
            </a:r>
          </a:p>
        </p:txBody>
      </p:sp>
      <p:sp>
        <p:nvSpPr>
          <p:cNvPr id="2054" name="TextBox 22">
            <a:extLst>
              <a:ext uri="{FF2B5EF4-FFF2-40B4-BE49-F238E27FC236}">
                <a16:creationId xmlns:a16="http://schemas.microsoft.com/office/drawing/2014/main" id="{2B4C252E-B129-B156-D2F9-E2D9E4782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825" y="1649413"/>
            <a:ext cx="1040447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DEPARTMENT OF ELECTRONICS AND COMMUNICATION ENGINEERING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Review 1</a:t>
            </a:r>
          </a:p>
        </p:txBody>
      </p:sp>
      <p:sp>
        <p:nvSpPr>
          <p:cNvPr id="2055" name="Rectangle 3">
            <a:extLst>
              <a:ext uri="{FF2B5EF4-FFF2-40B4-BE49-F238E27FC236}">
                <a16:creationId xmlns:a16="http://schemas.microsoft.com/office/drawing/2014/main" id="{29B0A1FE-C78F-283B-BDB6-1161FD3F06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93688"/>
            <a:ext cx="8010525" cy="1287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ts val="75"/>
              </a:spcBef>
              <a:buFontTx/>
              <a:buNone/>
            </a:pPr>
            <a:r>
              <a:rPr lang="en-US" altLang="en-US" sz="20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KIT-KALAIGNARKARUNANIDHI INSTITUTE OF TECHNOLOGY</a:t>
            </a:r>
          </a:p>
          <a:p>
            <a:pPr algn="ctr" eaLnBrk="1" hangingPunct="1">
              <a:lnSpc>
                <a:spcPct val="100000"/>
              </a:lnSpc>
              <a:spcBef>
                <a:spcPts val="75"/>
              </a:spcBef>
              <a:buFontTx/>
              <a:buNone/>
            </a:pPr>
            <a:r>
              <a:rPr lang="en-US" altLang="en-US" sz="20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COIMBATORE - 641402</a:t>
            </a:r>
            <a:endParaRPr lang="en-US" altLang="en-US" sz="1800" b="1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ct val="100000"/>
              </a:lnSpc>
              <a:spcBef>
                <a:spcPts val="75"/>
              </a:spcBef>
              <a:buFontTx/>
              <a:buNone/>
            </a:pPr>
            <a:r>
              <a:rPr lang="en-US" altLang="en-US" sz="1800" b="1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Approved by AICTE Affiliated to Anna University, Chennai</a:t>
            </a:r>
            <a:br>
              <a:rPr lang="en-US" altLang="en-US" sz="1800" b="1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800" b="1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Accredited With ‘A’ Grade by NAAC &amp; By NBA</a:t>
            </a:r>
            <a:endParaRPr lang="en-US" alt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6" name="object 5">
            <a:extLst>
              <a:ext uri="{FF2B5EF4-FFF2-40B4-BE49-F238E27FC236}">
                <a16:creationId xmlns:a16="http://schemas.microsoft.com/office/drawing/2014/main" id="{E4499711-26DF-CDCE-AFDD-41D70067BD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25" y="412750"/>
            <a:ext cx="1490663" cy="128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7" name="TextBox 5">
            <a:extLst>
              <a:ext uri="{FF2B5EF4-FFF2-40B4-BE49-F238E27FC236}">
                <a16:creationId xmlns:a16="http://schemas.microsoft.com/office/drawing/2014/main" id="{3E90B9CB-B87C-7688-B988-A9FB11B655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5900" y="4387850"/>
            <a:ext cx="170815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IN" altLang="en-US" b="1"/>
          </a:p>
          <a:p>
            <a:r>
              <a:rPr lang="en-IN" altLang="en-US" b="1"/>
              <a:t>1.Vaishnavi</a:t>
            </a:r>
            <a:r>
              <a:rPr lang="en-IN" altLang="en-US"/>
              <a:t> </a:t>
            </a:r>
          </a:p>
          <a:p>
            <a:r>
              <a:rPr lang="en-IN" altLang="en-US" b="1"/>
              <a:t>2.Syed Afridi</a:t>
            </a:r>
            <a:r>
              <a:rPr lang="en-IN" altLang="en-US"/>
              <a:t> </a:t>
            </a:r>
          </a:p>
          <a:p>
            <a:r>
              <a:rPr lang="en-IN" altLang="en-US" b="1"/>
              <a:t>3.Sanjay</a:t>
            </a:r>
            <a:r>
              <a:rPr lang="en-IN" altLang="en-US"/>
              <a:t> </a:t>
            </a:r>
          </a:p>
          <a:p>
            <a:r>
              <a:rPr lang="en-IN" altLang="en-US" b="1"/>
              <a:t>4.Rahul </a:t>
            </a:r>
            <a:endParaRPr lang="en-IN" altLang="en-US"/>
          </a:p>
        </p:txBody>
      </p:sp>
      <p:sp>
        <p:nvSpPr>
          <p:cNvPr id="2058" name="TextBox 7">
            <a:extLst>
              <a:ext uri="{FF2B5EF4-FFF2-40B4-BE49-F238E27FC236}">
                <a16:creationId xmlns:a16="http://schemas.microsoft.com/office/drawing/2014/main" id="{C91D9A83-8886-AD8F-781C-B7014BBA22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2038" y="4705350"/>
            <a:ext cx="3151187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IN" altLang="en-US" b="1"/>
              <a:t>Dr.R.GOWRISHANKAR</a:t>
            </a:r>
            <a:endParaRPr lang="en-IN" altLang="en-US"/>
          </a:p>
          <a:p>
            <a:r>
              <a:rPr lang="en-IN" altLang="en-US"/>
              <a:t>Professor, ECE Department</a:t>
            </a:r>
          </a:p>
          <a:p>
            <a:r>
              <a:rPr lang="en-IN" altLang="en-US"/>
              <a:t>KIT, Coimbatore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9A1259F-EFDC-DBC6-2CD1-5BADE02A371F}"/>
              </a:ext>
            </a:extLst>
          </p:cNvPr>
          <p:cNvSpPr/>
          <p:nvPr/>
        </p:nvSpPr>
        <p:spPr>
          <a:xfrm>
            <a:off x="0" y="6632575"/>
            <a:ext cx="12192000" cy="225425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57C87B-405F-14D7-AC6F-5C91875C2D92}"/>
              </a:ext>
            </a:extLst>
          </p:cNvPr>
          <p:cNvSpPr/>
          <p:nvPr/>
        </p:nvSpPr>
        <p:spPr>
          <a:xfrm>
            <a:off x="3509963" y="-6350"/>
            <a:ext cx="5172075" cy="12858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076" name="TextBox 10">
            <a:extLst>
              <a:ext uri="{FF2B5EF4-FFF2-40B4-BE49-F238E27FC236}">
                <a16:creationId xmlns:a16="http://schemas.microsoft.com/office/drawing/2014/main" id="{85A3CA8C-B640-AC0D-2C13-19A36012F5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2188" y="382588"/>
            <a:ext cx="102076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>
                <a:latin typeface="Georgia" panose="02040502050405020303" pitchFamily="18" charset="0"/>
              </a:rPr>
              <a:t>OBJECTIVE</a:t>
            </a:r>
          </a:p>
        </p:txBody>
      </p:sp>
      <p:sp>
        <p:nvSpPr>
          <p:cNvPr id="3077" name="TextBox 4">
            <a:extLst>
              <a:ext uri="{FF2B5EF4-FFF2-40B4-BE49-F238E27FC236}">
                <a16:creationId xmlns:a16="http://schemas.microsoft.com/office/drawing/2014/main" id="{EC0516DB-F0BE-805C-1EEE-D44E95696F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462088" y="1651000"/>
            <a:ext cx="10544176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078" name="TextBox 4">
            <a:extLst>
              <a:ext uri="{FF2B5EF4-FFF2-40B4-BE49-F238E27FC236}">
                <a16:creationId xmlns:a16="http://schemas.microsoft.com/office/drawing/2014/main" id="{739C67E6-DDF0-82A5-F1D2-B76B06602C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6900" y="2211231"/>
            <a:ext cx="8458200" cy="1217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IN" sz="1800" dirty="0"/>
              <a:t>Design &amp; Performance: Develop a CMOS LNA for 2.4 GHz RF receivers achieving &gt;15 dB gain, &lt;2 dB noise figure, with high linearity and stability.</a:t>
            </a:r>
          </a:p>
          <a:p>
            <a:r>
              <a:rPr lang="en-IN" sz="1800" dirty="0"/>
              <a:t>Simulation &amp; Optimisation: Validate the design using Cadence Virtuoso (S-parameters, noise, linearity) while optimising power efficiency for practical integration.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91DB15-F47B-E303-3835-31C3BCA8E099}"/>
              </a:ext>
            </a:extLst>
          </p:cNvPr>
          <p:cNvSpPr/>
          <p:nvPr/>
        </p:nvSpPr>
        <p:spPr>
          <a:xfrm>
            <a:off x="0" y="6636404"/>
            <a:ext cx="12192000" cy="225425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D5D63-9E48-B84D-3B27-9CAE95C99B67}"/>
              </a:ext>
            </a:extLst>
          </p:cNvPr>
          <p:cNvSpPr/>
          <p:nvPr/>
        </p:nvSpPr>
        <p:spPr>
          <a:xfrm>
            <a:off x="3509963" y="-6350"/>
            <a:ext cx="5172075" cy="12858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100" name="TextBox 10">
            <a:extLst>
              <a:ext uri="{FF2B5EF4-FFF2-40B4-BE49-F238E27FC236}">
                <a16:creationId xmlns:a16="http://schemas.microsoft.com/office/drawing/2014/main" id="{17E90752-DA22-BFED-A134-4573C9B136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2188" y="382588"/>
            <a:ext cx="102076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>
                <a:latin typeface="Georgia" panose="02040502050405020303" pitchFamily="18" charset="0"/>
              </a:rPr>
              <a:t>ABSTRACT</a:t>
            </a:r>
          </a:p>
        </p:txBody>
      </p:sp>
      <p:sp>
        <p:nvSpPr>
          <p:cNvPr id="4102" name="TextBox 6">
            <a:extLst>
              <a:ext uri="{FF2B5EF4-FFF2-40B4-BE49-F238E27FC236}">
                <a16:creationId xmlns:a16="http://schemas.microsoft.com/office/drawing/2014/main" id="{A22D4809-F287-02CE-A368-BD62BC1143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9080" y="1227138"/>
            <a:ext cx="3392488" cy="397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Key Specifications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1800" dirty="0">
                <a:latin typeface="Arial" panose="020B0604020202020204" pitchFamily="34" charset="0"/>
              </a:rPr>
              <a:t>Frequency: 2.4 GHz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en-US" sz="1800" dirty="0"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1800" dirty="0">
                <a:latin typeface="Arial" panose="020B0604020202020204" pitchFamily="34" charset="0"/>
              </a:rPr>
              <a:t>Technology: 180nm CMOS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en-US" sz="1800" dirty="0"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1800" dirty="0">
                <a:latin typeface="Arial" panose="020B0604020202020204" pitchFamily="34" charset="0"/>
              </a:rPr>
              <a:t>Target Gain: &gt;15 dB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en-US" sz="1800" dirty="0"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1800" dirty="0">
                <a:latin typeface="Arial" panose="020B0604020202020204" pitchFamily="34" charset="0"/>
              </a:rPr>
              <a:t>Noise Figure: &lt;2 dB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en-US" sz="1800" dirty="0"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1800" dirty="0">
                <a:latin typeface="Arial" panose="020B0604020202020204" pitchFamily="34" charset="0"/>
              </a:rPr>
              <a:t>Power: </a:t>
            </a:r>
            <a:r>
              <a:rPr lang="en-US" altLang="en-US" sz="1800" dirty="0" err="1">
                <a:latin typeface="Arial" panose="020B0604020202020204" pitchFamily="34" charset="0"/>
              </a:rPr>
              <a:t>Optimised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en-US" sz="1800" dirty="0"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en-US" sz="1800" dirty="0"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02887FEB-6A4A-E472-D0A1-198332C9E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188" y="1252654"/>
            <a:ext cx="6996023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CMOS Low-Noise Amplifier (LNA) designed for 2.4 GHz radio receivers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on amplifying weak signals with minimal added noise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Designed and simulated using Cadence Virtuoso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Methodology includes: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Schematic design and component sizing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S-parameter, noise figure, and harmonic balance simulations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Expected performance: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Gain &gt; 15 dB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Noise figure &lt; 2 dB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modern wireless standards: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5G, Wi-Fi (2.4 GHz)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 low-power, cost-effective RF front-end integration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C21B98-1B63-9379-8D2E-35641FF775E6}"/>
              </a:ext>
            </a:extLst>
          </p:cNvPr>
          <p:cNvSpPr/>
          <p:nvPr/>
        </p:nvSpPr>
        <p:spPr>
          <a:xfrm>
            <a:off x="0" y="6632575"/>
            <a:ext cx="12192000" cy="225425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6780F1-A271-B447-396C-ED1CA7AFAF85}"/>
              </a:ext>
            </a:extLst>
          </p:cNvPr>
          <p:cNvSpPr/>
          <p:nvPr/>
        </p:nvSpPr>
        <p:spPr>
          <a:xfrm>
            <a:off x="3509963" y="-6350"/>
            <a:ext cx="5172075" cy="12858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124" name="TextBox 10">
            <a:extLst>
              <a:ext uri="{FF2B5EF4-FFF2-40B4-BE49-F238E27FC236}">
                <a16:creationId xmlns:a16="http://schemas.microsoft.com/office/drawing/2014/main" id="{35168472-F4A9-CD0B-602F-84452D7641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1100" y="273050"/>
            <a:ext cx="102076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>
                <a:latin typeface="Georgia" panose="02040502050405020303" pitchFamily="18" charset="0"/>
              </a:rPr>
              <a:t>LITERATURE REVIEW….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A986FB7-B5B4-2307-0E14-129C93A812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380447"/>
              </p:ext>
            </p:extLst>
          </p:nvPr>
        </p:nvGraphicFramePr>
        <p:xfrm>
          <a:off x="992188" y="814388"/>
          <a:ext cx="10585450" cy="5719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68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25515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  <a:p>
                      <a:pPr algn="ctr"/>
                      <a:r>
                        <a:rPr lang="en-US" sz="1800" dirty="0"/>
                        <a:t>S.No</a:t>
                      </a:r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  <a:p>
                      <a:pPr algn="ctr"/>
                      <a:r>
                        <a:rPr lang="en-US" sz="1800" dirty="0"/>
                        <a:t>ARTICLE</a:t>
                      </a:r>
                      <a:r>
                        <a:rPr lang="en-US" sz="1800" baseline="0" dirty="0"/>
                        <a:t> TITLE &amp; PUBLICATION DETAIL</a:t>
                      </a:r>
                      <a:endParaRPr lang="en-US" sz="1800" dirty="0"/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  <a:p>
                      <a:pPr algn="ctr"/>
                      <a:r>
                        <a:rPr lang="en-US" sz="1800" dirty="0"/>
                        <a:t>METHODOLOGY USED</a:t>
                      </a:r>
                    </a:p>
                  </a:txBody>
                  <a:tcPr marL="91445" marR="91445" marT="45729" marB="4572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5196">
                <a:tc>
                  <a:txBody>
                    <a:bodyPr/>
                    <a:lstStyle/>
                    <a:p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0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0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IEEE TCAS-II, 2023</a:t>
                      </a:r>
                      <a:endParaRPr lang="en-US" sz="2000" dirty="0"/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/>
                    </a:p>
                    <a:p>
                      <a:r>
                        <a:rPr lang="en-US" sz="2000" b="0" dirty="0"/>
                        <a:t>Proposed a broadband CMOS LNA with variable gain, achieving low noise figure (&lt;2 dB) and improved linearity for wireless receivers</a:t>
                      </a:r>
                      <a:r>
                        <a:rPr lang="en-US" sz="2000" dirty="0"/>
                        <a:t>.</a:t>
                      </a:r>
                      <a:endParaRPr lang="en-US" sz="20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5" marR="91445" marT="45729" marB="4572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9051">
                <a:tc>
                  <a:txBody>
                    <a:bodyPr/>
                    <a:lstStyle/>
                    <a:p>
                      <a:endParaRPr lang="en-US" sz="18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8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8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8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IEEE Transactions on Microwave Theory and Techniques, 2023</a:t>
                      </a:r>
                    </a:p>
                    <a:p>
                      <a:endParaRPr lang="en-US" sz="1800" i="0" dirty="0"/>
                    </a:p>
                  </a:txBody>
                  <a:tcPr marL="91445" marR="91445" marT="45729" marB="4572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/>
                    </a:p>
                    <a:p>
                      <a:endParaRPr lang="en-US" sz="2000" b="0" dirty="0"/>
                    </a:p>
                    <a:p>
                      <a:r>
                        <a:rPr lang="en-US" sz="2000" b="0" dirty="0"/>
                        <a:t>Presented a noise-cancelling CMOS LNA operating at mm-wave frequencies, demonstrating excellent NF–power trade-off</a:t>
                      </a:r>
                      <a:r>
                        <a:rPr lang="en-US" sz="2000" dirty="0"/>
                        <a:t>.</a:t>
                      </a:r>
                      <a:endParaRPr lang="en-US" sz="20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5" marR="91445" marT="45729" marB="4572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9CFF91-E2F1-DA5E-25DA-FBDBDB125F60}"/>
              </a:ext>
            </a:extLst>
          </p:cNvPr>
          <p:cNvSpPr/>
          <p:nvPr/>
        </p:nvSpPr>
        <p:spPr>
          <a:xfrm>
            <a:off x="0" y="6632575"/>
            <a:ext cx="12192000" cy="225425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4B6543-D585-6821-BE6B-DB935D526B2C}"/>
              </a:ext>
            </a:extLst>
          </p:cNvPr>
          <p:cNvSpPr/>
          <p:nvPr/>
        </p:nvSpPr>
        <p:spPr>
          <a:xfrm>
            <a:off x="3509963" y="-6350"/>
            <a:ext cx="5172075" cy="12858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148" name="TextBox 10">
            <a:extLst>
              <a:ext uri="{FF2B5EF4-FFF2-40B4-BE49-F238E27FC236}">
                <a16:creationId xmlns:a16="http://schemas.microsoft.com/office/drawing/2014/main" id="{ED643460-97CD-2921-4D9C-C31F9E305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2188" y="382588"/>
            <a:ext cx="102076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>
                <a:latin typeface="Georgia" panose="02040502050405020303" pitchFamily="18" charset="0"/>
              </a:rPr>
              <a:t>LITERATURE REVIEW….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1C3B93F-16F6-F9C5-A498-0137A31F73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5838617"/>
              </p:ext>
            </p:extLst>
          </p:nvPr>
        </p:nvGraphicFramePr>
        <p:xfrm>
          <a:off x="803275" y="863600"/>
          <a:ext cx="9186876" cy="56118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49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51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68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09134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91445" marR="91445" marT="45721" marB="45721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91445" marR="91445" marT="45721" marB="45721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91445" marR="91445" marT="45721" marB="4572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9841">
                <a:tc>
                  <a:txBody>
                    <a:bodyPr/>
                    <a:lstStyle/>
                    <a:p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</a:p>
                  </a:txBody>
                  <a:tcPr marL="91445" marR="91445" marT="45721" marB="4572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IEEE Solid-State Circuits Letters, 2024</a:t>
                      </a:r>
                      <a:endParaRPr lang="en-US" sz="1800" dirty="0"/>
                    </a:p>
                  </a:txBody>
                  <a:tcPr marL="91445" marR="91445" marT="45721" marB="4572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Designed a </a:t>
                      </a:r>
                      <a:r>
                        <a:rPr lang="en-US" sz="2000" b="1" dirty="0"/>
                        <a:t>low-power variable-gain CMOS LNA</a:t>
                      </a:r>
                      <a:r>
                        <a:rPr lang="en-US" sz="2000" dirty="0"/>
                        <a:t> optimized for RF front-end integration in modern wireless standards.</a:t>
                      </a:r>
                      <a:endParaRPr lang="en-US" sz="20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5" marR="91445" marT="45721" marB="4572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2837">
                <a:tc>
                  <a:txBody>
                    <a:bodyPr/>
                    <a:lstStyle/>
                    <a:p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</a:t>
                      </a:r>
                    </a:p>
                  </a:txBody>
                  <a:tcPr marL="91445" marR="91445" marT="45721" marB="4572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IEEE Journal of Solid-State Circuits, 2024</a:t>
                      </a:r>
                      <a:endParaRPr lang="en-US" sz="1800" dirty="0"/>
                    </a:p>
                  </a:txBody>
                  <a:tcPr marL="91445" marR="91445" marT="45721" marB="4572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Reported a </a:t>
                      </a:r>
                      <a:r>
                        <a:rPr lang="en-US" sz="2000" b="1" dirty="0"/>
                        <a:t>high-gain CMOS LNA</a:t>
                      </a:r>
                      <a:r>
                        <a:rPr lang="en-US" sz="2000" dirty="0"/>
                        <a:t> using transformer-based matching, achieving superior noise and stability performance.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5" marR="91445" marT="45721" marB="4572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E2DDD3-9F11-F753-73F7-CE8EDA0CE091}"/>
              </a:ext>
            </a:extLst>
          </p:cNvPr>
          <p:cNvSpPr/>
          <p:nvPr/>
        </p:nvSpPr>
        <p:spPr>
          <a:xfrm>
            <a:off x="0" y="6632575"/>
            <a:ext cx="12192000" cy="225425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7010BD-EE6F-FEFA-E1D7-1B79CDB880F3}"/>
              </a:ext>
            </a:extLst>
          </p:cNvPr>
          <p:cNvSpPr/>
          <p:nvPr/>
        </p:nvSpPr>
        <p:spPr>
          <a:xfrm>
            <a:off x="3509963" y="-6350"/>
            <a:ext cx="5172075" cy="12858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172" name="TextBox 10">
            <a:extLst>
              <a:ext uri="{FF2B5EF4-FFF2-40B4-BE49-F238E27FC236}">
                <a16:creationId xmlns:a16="http://schemas.microsoft.com/office/drawing/2014/main" id="{ACCEB7A7-F416-EDA3-4915-EDE1B6BDA1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2188" y="273050"/>
            <a:ext cx="102076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>
                <a:latin typeface="Georgia" panose="02040502050405020303" pitchFamily="18" charset="0"/>
              </a:rPr>
              <a:t>LITERATUE OVERVIEW….</a:t>
            </a:r>
          </a:p>
        </p:txBody>
      </p:sp>
      <p:sp>
        <p:nvSpPr>
          <p:cNvPr id="7173" name="TextBox 4">
            <a:extLst>
              <a:ext uri="{FF2B5EF4-FFF2-40B4-BE49-F238E27FC236}">
                <a16:creationId xmlns:a16="http://schemas.microsoft.com/office/drawing/2014/main" id="{0DC13239-BBB7-BAC6-B8D1-BAA8F287E0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563" y="1108075"/>
            <a:ext cx="11745912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Evolution of CMOS LNAs:</a:t>
            </a:r>
            <a:br>
              <a:rPr lang="en-US" altLang="en-US" sz="1800" b="1" dirty="0">
                <a:latin typeface="Arial" panose="020B0604020202020204" pitchFamily="34" charset="0"/>
              </a:rPr>
            </a:br>
            <a:endParaRPr lang="en-US" altLang="en-US" sz="1800" b="1" dirty="0"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Transition from discrete bipolar designs to integrated CMOS architectures offering cost and power advantages</a:t>
            </a:r>
          </a:p>
        </p:txBody>
      </p:sp>
      <p:sp>
        <p:nvSpPr>
          <p:cNvPr id="7174" name="TextBox 6">
            <a:extLst>
              <a:ext uri="{FF2B5EF4-FFF2-40B4-BE49-F238E27FC236}">
                <a16:creationId xmlns:a16="http://schemas.microsoft.com/office/drawing/2014/main" id="{B03BB36B-3B11-49C1-1E88-6086C4B4DF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3" y="4232275"/>
            <a:ext cx="1187767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Key Challenge:</a:t>
            </a:r>
            <a:br>
              <a:rPr lang="en-US" altLang="en-US" sz="1800" b="1" dirty="0">
                <a:latin typeface="Arial" panose="020B0604020202020204" pitchFamily="34" charset="0"/>
              </a:rPr>
            </a:br>
            <a:endParaRPr lang="en-US" altLang="en-US" sz="1800" b="1" dirty="0"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Noise-power trade-off remains primary limitation, particularly at RF frequencies where thermal and flicker noise dominate</a:t>
            </a:r>
          </a:p>
        </p:txBody>
      </p:sp>
      <p:sp>
        <p:nvSpPr>
          <p:cNvPr id="7175" name="TextBox 8">
            <a:extLst>
              <a:ext uri="{FF2B5EF4-FFF2-40B4-BE49-F238E27FC236}">
                <a16:creationId xmlns:a16="http://schemas.microsoft.com/office/drawing/2014/main" id="{A6740B59-1EA6-E692-8666-74B5E7FEED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525" y="2530475"/>
            <a:ext cx="11969750" cy="1201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This Project's Contribution:</a:t>
            </a:r>
            <a:br>
              <a:rPr lang="en-US" altLang="en-US" sz="1800" b="1" dirty="0">
                <a:latin typeface="Arial" panose="020B0604020202020204" pitchFamily="34" charset="0"/>
              </a:rPr>
            </a:br>
            <a:endParaRPr lang="en-US" altLang="en-US" sz="1800" b="1" dirty="0"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Implementation of </a:t>
            </a:r>
            <a:r>
              <a:rPr lang="en-US" altLang="en-US" sz="1800" dirty="0" err="1">
                <a:latin typeface="Arial" panose="020B0604020202020204" pitchFamily="34" charset="0"/>
              </a:rPr>
              <a:t>cascode</a:t>
            </a:r>
            <a:r>
              <a:rPr lang="en-US" altLang="en-US" sz="1800" dirty="0">
                <a:latin typeface="Arial" panose="020B0604020202020204" pitchFamily="34" charset="0"/>
              </a:rPr>
              <a:t> topology with inductive degeneration, validated through Cadence simulations for stability and performance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6FB96C-E761-B9AE-142F-A98B96483302}"/>
              </a:ext>
            </a:extLst>
          </p:cNvPr>
          <p:cNvSpPr/>
          <p:nvPr/>
        </p:nvSpPr>
        <p:spPr>
          <a:xfrm>
            <a:off x="0" y="6632575"/>
            <a:ext cx="12192000" cy="225425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C69941-01D6-310B-D8FD-C9F9A47040F6}"/>
              </a:ext>
            </a:extLst>
          </p:cNvPr>
          <p:cNvSpPr/>
          <p:nvPr/>
        </p:nvSpPr>
        <p:spPr>
          <a:xfrm>
            <a:off x="3509963" y="-6350"/>
            <a:ext cx="5172075" cy="12858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196" name="TextBox 10">
            <a:extLst>
              <a:ext uri="{FF2B5EF4-FFF2-40B4-BE49-F238E27FC236}">
                <a16:creationId xmlns:a16="http://schemas.microsoft.com/office/drawing/2014/main" id="{F316F7CC-CDF8-E073-BC4D-1582E6C2B7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2188" y="122238"/>
            <a:ext cx="10207625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>
                <a:latin typeface="Georgia" panose="02040502050405020303" pitchFamily="18" charset="0"/>
              </a:rPr>
              <a:t>Problem statement ( Source : hackathon/Industry/Journal)</a:t>
            </a:r>
          </a:p>
        </p:txBody>
      </p:sp>
      <p:sp>
        <p:nvSpPr>
          <p:cNvPr id="8197" name="TextBox 4">
            <a:extLst>
              <a:ext uri="{FF2B5EF4-FFF2-40B4-BE49-F238E27FC236}">
                <a16:creationId xmlns:a16="http://schemas.microsoft.com/office/drawing/2014/main" id="{24003040-2C28-E916-5540-4A96343FF6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2188" y="1776413"/>
            <a:ext cx="10207625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CMOS LNA Design Challenges &amp; Requirements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800" dirty="0"/>
              <a:t>                   CMOS LNAs face high noise at RF frequencies due to device and substrate effects. Modern 5G and Wi-Fi 6/6E systems demand &lt;2 dB NF and &lt;5 </a:t>
            </a:r>
            <a:r>
              <a:rPr lang="en-US" sz="1800" dirty="0" err="1"/>
              <a:t>mW</a:t>
            </a:r>
            <a:r>
              <a:rPr lang="en-US" sz="1800" dirty="0"/>
              <a:t> power, requiring advanced techniques to balance noise, power, and linearity.</a:t>
            </a:r>
            <a:endParaRPr lang="en-US" altLang="en-US" sz="18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941A52-914E-E756-0AE3-868BAB02F98C}"/>
              </a:ext>
            </a:extLst>
          </p:cNvPr>
          <p:cNvSpPr/>
          <p:nvPr/>
        </p:nvSpPr>
        <p:spPr>
          <a:xfrm>
            <a:off x="0" y="6632575"/>
            <a:ext cx="12192000" cy="225425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141BC7-CB41-B97B-645A-D07AEF77CA64}"/>
              </a:ext>
            </a:extLst>
          </p:cNvPr>
          <p:cNvSpPr/>
          <p:nvPr/>
        </p:nvSpPr>
        <p:spPr>
          <a:xfrm>
            <a:off x="3509963" y="-6350"/>
            <a:ext cx="5172075" cy="12858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220" name="TextBox 10">
            <a:extLst>
              <a:ext uri="{FF2B5EF4-FFF2-40B4-BE49-F238E27FC236}">
                <a16:creationId xmlns:a16="http://schemas.microsoft.com/office/drawing/2014/main" id="{33EDE159-E882-4F56-D1C8-AD99EC7408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2187" y="122238"/>
            <a:ext cx="102076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 dirty="0">
                <a:latin typeface="Georgia" panose="02040502050405020303" pitchFamily="18" charset="0"/>
              </a:rPr>
              <a:t>Proposed System Block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562CF0-7636-DD19-5450-05F9D9DA7F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9856" y="638354"/>
            <a:ext cx="3922143" cy="58832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C41295-25B4-DC89-9CF8-A26550A346BE}"/>
              </a:ext>
            </a:extLst>
          </p:cNvPr>
          <p:cNvSpPr/>
          <p:nvPr/>
        </p:nvSpPr>
        <p:spPr>
          <a:xfrm>
            <a:off x="0" y="6632575"/>
            <a:ext cx="12192000" cy="225425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245F61-96DB-5FD9-ABD9-96C4F2A8A6A5}"/>
              </a:ext>
            </a:extLst>
          </p:cNvPr>
          <p:cNvSpPr/>
          <p:nvPr/>
        </p:nvSpPr>
        <p:spPr>
          <a:xfrm>
            <a:off x="3509963" y="-6350"/>
            <a:ext cx="5172075" cy="12858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244" name="TextBox 10">
            <a:extLst>
              <a:ext uri="{FF2B5EF4-FFF2-40B4-BE49-F238E27FC236}">
                <a16:creationId xmlns:a16="http://schemas.microsoft.com/office/drawing/2014/main" id="{4238C1BA-B1BB-DB0A-BFB6-42C103CB5C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2188" y="382588"/>
            <a:ext cx="102076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>
                <a:latin typeface="Georgia" panose="02040502050405020303" pitchFamily="18" charset="0"/>
              </a:rPr>
              <a:t>Methodology</a:t>
            </a:r>
          </a:p>
        </p:txBody>
      </p:sp>
      <p:sp>
        <p:nvSpPr>
          <p:cNvPr id="10245" name="TextBox 4">
            <a:extLst>
              <a:ext uri="{FF2B5EF4-FFF2-40B4-BE49-F238E27FC236}">
                <a16:creationId xmlns:a16="http://schemas.microsoft.com/office/drawing/2014/main" id="{826E4725-8E1A-D9F3-350C-932B53C473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5988" y="1177925"/>
            <a:ext cx="81502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b="1"/>
              <a:t>Technology Selection</a:t>
            </a:r>
          </a:p>
          <a:p>
            <a:r>
              <a:rPr lang="en-US" altLang="en-US"/>
              <a:t>180nm CMOS process for optimal noise and power characteristics</a:t>
            </a:r>
          </a:p>
        </p:txBody>
      </p:sp>
      <p:sp>
        <p:nvSpPr>
          <p:cNvPr id="10246" name="TextBox 6">
            <a:extLst>
              <a:ext uri="{FF2B5EF4-FFF2-40B4-BE49-F238E27FC236}">
                <a16:creationId xmlns:a16="http://schemas.microsoft.com/office/drawing/2014/main" id="{AE999CA3-276F-1CEE-F425-4342A951C5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2188" y="2101850"/>
            <a:ext cx="609441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b="1"/>
              <a:t>Schematic Design</a:t>
            </a:r>
          </a:p>
          <a:p>
            <a:r>
              <a:rPr lang="en-US" altLang="en-US"/>
              <a:t>Cadence Virtuoso for transistor-level schematic capture</a:t>
            </a:r>
          </a:p>
        </p:txBody>
      </p:sp>
      <p:sp>
        <p:nvSpPr>
          <p:cNvPr id="10247" name="TextBox 8">
            <a:extLst>
              <a:ext uri="{FF2B5EF4-FFF2-40B4-BE49-F238E27FC236}">
                <a16:creationId xmlns:a16="http://schemas.microsoft.com/office/drawing/2014/main" id="{C1982C64-2DE3-523B-0BBA-E13A6B866F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2188" y="2928938"/>
            <a:ext cx="609441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b="1"/>
              <a:t>Component Sizing</a:t>
            </a:r>
          </a:p>
          <a:p>
            <a:r>
              <a:rPr lang="en-US" altLang="en-US"/>
              <a:t>Transistor W/L ratios, inductor values, capacitor selection</a:t>
            </a:r>
          </a:p>
        </p:txBody>
      </p:sp>
      <p:sp>
        <p:nvSpPr>
          <p:cNvPr id="10248" name="TextBox 10">
            <a:extLst>
              <a:ext uri="{FF2B5EF4-FFF2-40B4-BE49-F238E27FC236}">
                <a16:creationId xmlns:a16="http://schemas.microsoft.com/office/drawing/2014/main" id="{881D398C-B899-BBE8-B5B0-6CEF624C89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2188" y="3787775"/>
            <a:ext cx="609441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IN" altLang="en-US" b="1"/>
              <a:t>Simulations</a:t>
            </a:r>
          </a:p>
          <a:p>
            <a:r>
              <a:rPr lang="en-IN" altLang="en-US"/>
              <a:t>SpectreRF for DC, AC, noise, harmonic balance analysis</a:t>
            </a:r>
          </a:p>
        </p:txBody>
      </p:sp>
      <p:sp>
        <p:nvSpPr>
          <p:cNvPr id="10249" name="TextBox 12">
            <a:extLst>
              <a:ext uri="{FF2B5EF4-FFF2-40B4-BE49-F238E27FC236}">
                <a16:creationId xmlns:a16="http://schemas.microsoft.com/office/drawing/2014/main" id="{B5ED79EA-9A06-8F79-2D74-523A82A359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2188" y="4710113"/>
            <a:ext cx="609441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b="1"/>
              <a:t>Layout Implementation</a:t>
            </a:r>
          </a:p>
          <a:p>
            <a:r>
              <a:rPr lang="en-US" altLang="en-US"/>
              <a:t>Physical design with parasitic extraction and verification</a:t>
            </a:r>
          </a:p>
        </p:txBody>
      </p:sp>
      <p:sp>
        <p:nvSpPr>
          <p:cNvPr id="10250" name="TextBox 14">
            <a:extLst>
              <a:ext uri="{FF2B5EF4-FFF2-40B4-BE49-F238E27FC236}">
                <a16:creationId xmlns:a16="http://schemas.microsoft.com/office/drawing/2014/main" id="{1D978FFE-CA6A-392B-39F4-46E1F7BD82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5988" y="5481638"/>
            <a:ext cx="609441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b="1"/>
              <a:t>Optimisation</a:t>
            </a:r>
          </a:p>
          <a:p>
            <a:r>
              <a:rPr lang="en-US" altLang="en-US"/>
              <a:t>Iterative refinement targeting S21 gain, NF, IIP3, stability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3D0538-F2DD-679F-E740-880AF051C4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4387" y="0"/>
            <a:ext cx="50832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249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846CD5-4B13-51D0-18AC-729A69A03A0C}"/>
              </a:ext>
            </a:extLst>
          </p:cNvPr>
          <p:cNvSpPr txBox="1"/>
          <p:nvPr/>
        </p:nvSpPr>
        <p:spPr>
          <a:xfrm>
            <a:off x="42003" y="42002"/>
            <a:ext cx="1209679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latin typeface="Arial"/>
                <a:cs typeface="Arial"/>
              </a:rPr>
              <a:t>SCHEMATIC</a:t>
            </a:r>
            <a:endParaRPr lang="en-US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8F70AF-2EA8-5F23-4204-4D57599924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385" y="510468"/>
            <a:ext cx="11610026" cy="6850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274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63087B2-6D67-5CF5-4062-E9FF14884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7295" y="414617"/>
            <a:ext cx="9884939" cy="644338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FACCE02-4D10-7CA2-6D70-E4FA1936D235}"/>
              </a:ext>
            </a:extLst>
          </p:cNvPr>
          <p:cNvSpPr txBox="1"/>
          <p:nvPr/>
        </p:nvSpPr>
        <p:spPr>
          <a:xfrm>
            <a:off x="70005" y="42002"/>
            <a:ext cx="1209679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 dirty="0">
                <a:solidFill>
                  <a:srgbClr val="FC0100"/>
                </a:solidFill>
                <a:latin typeface="Arial"/>
                <a:cs typeface="Arial"/>
              </a:rPr>
              <a:t>SYMBOL:-</a:t>
            </a:r>
            <a:endParaRPr lang="en-US" sz="2000" b="1" dirty="0">
              <a:solidFill>
                <a:srgbClr val="FC01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46179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152851-4E43-A123-1842-88D6F99115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807" y="612475"/>
            <a:ext cx="9966385" cy="61161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6ECFBD6-D1BD-E748-DA56-7430247FF2DA}"/>
              </a:ext>
            </a:extLst>
          </p:cNvPr>
          <p:cNvSpPr txBox="1"/>
          <p:nvPr/>
        </p:nvSpPr>
        <p:spPr>
          <a:xfrm>
            <a:off x="4984630" y="129397"/>
            <a:ext cx="60945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waveform</a:t>
            </a:r>
            <a:endParaRPr lang="en-IN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9283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D2E38FD-10C6-B90D-B41B-CC11DCABE30F}"/>
              </a:ext>
            </a:extLst>
          </p:cNvPr>
          <p:cNvSpPr/>
          <p:nvPr/>
        </p:nvSpPr>
        <p:spPr>
          <a:xfrm>
            <a:off x="0" y="6632575"/>
            <a:ext cx="12192000" cy="225425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61CA79-1CF2-DBE8-036F-B7F10DDE7012}"/>
              </a:ext>
            </a:extLst>
          </p:cNvPr>
          <p:cNvSpPr/>
          <p:nvPr/>
        </p:nvSpPr>
        <p:spPr>
          <a:xfrm>
            <a:off x="3509963" y="-6350"/>
            <a:ext cx="5172075" cy="12858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268" name="TextBox 10">
            <a:extLst>
              <a:ext uri="{FF2B5EF4-FFF2-40B4-BE49-F238E27FC236}">
                <a16:creationId xmlns:a16="http://schemas.microsoft.com/office/drawing/2014/main" id="{E091710D-CDE9-DE8A-5D18-F52DCB79B0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2188" y="382588"/>
            <a:ext cx="102076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>
                <a:latin typeface="Georgia" panose="02040502050405020303" pitchFamily="18" charset="0"/>
              </a:rPr>
              <a:t>Work Completion status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1463E2D-C1BD-BEDA-473E-97A25BB6B5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5543239"/>
              </p:ext>
            </p:extLst>
          </p:nvPr>
        </p:nvGraphicFramePr>
        <p:xfrm>
          <a:off x="2032000" y="1962150"/>
          <a:ext cx="8128000" cy="256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50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096">
                <a:tc>
                  <a:txBody>
                    <a:bodyPr/>
                    <a:lstStyle/>
                    <a:p>
                      <a:r>
                        <a:rPr lang="en-US" sz="1800" dirty="0" err="1"/>
                        <a:t>S.No</a:t>
                      </a:r>
                      <a:endParaRPr lang="en-IN" sz="1800" dirty="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Work</a:t>
                      </a:r>
                      <a:r>
                        <a:rPr lang="en-US" sz="1800" baseline="0" dirty="0"/>
                        <a:t> Description</a:t>
                      </a:r>
                      <a:endParaRPr lang="en-IN" sz="1800" dirty="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Completion Percentage</a:t>
                      </a:r>
                      <a:endParaRPr lang="en-IN" sz="1800" dirty="0"/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096">
                <a:tc>
                  <a:txBody>
                    <a:bodyPr/>
                    <a:lstStyle/>
                    <a:p>
                      <a:r>
                        <a:rPr lang="en-US" sz="1800" dirty="0"/>
                        <a:t>1.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Problem Identification</a:t>
                      </a:r>
                      <a:endParaRPr lang="en-IN" sz="1800" dirty="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100%</a:t>
                      </a:r>
                      <a:endParaRPr lang="en-IN" sz="1800" dirty="0"/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096">
                <a:tc>
                  <a:txBody>
                    <a:bodyPr/>
                    <a:lstStyle/>
                    <a:p>
                      <a:r>
                        <a:rPr lang="en-US" sz="1800" dirty="0"/>
                        <a:t>2.</a:t>
                      </a:r>
                      <a:endParaRPr lang="en-IN" sz="1800" dirty="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Literature Survey</a:t>
                      </a:r>
                      <a:endParaRPr lang="en-IN" sz="1800" dirty="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100%</a:t>
                      </a:r>
                      <a:endParaRPr lang="en-IN" sz="1800" dirty="0"/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096">
                <a:tc>
                  <a:txBody>
                    <a:bodyPr/>
                    <a:lstStyle/>
                    <a:p>
                      <a:r>
                        <a:rPr lang="en-US" sz="1800" dirty="0"/>
                        <a:t>3.</a:t>
                      </a:r>
                      <a:endParaRPr lang="en-IN" sz="1800" dirty="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System Design</a:t>
                      </a:r>
                      <a:endParaRPr lang="en-IN" sz="1800" dirty="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100%</a:t>
                      </a:r>
                      <a:endParaRPr lang="en-IN" sz="1800" dirty="0"/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096">
                <a:tc>
                  <a:txBody>
                    <a:bodyPr/>
                    <a:lstStyle/>
                    <a:p>
                      <a:r>
                        <a:rPr lang="en-US" sz="1800" dirty="0"/>
                        <a:t>4.</a:t>
                      </a:r>
                      <a:endParaRPr lang="en-IN" sz="1800" dirty="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Implementation</a:t>
                      </a:r>
                      <a:endParaRPr lang="en-IN" sz="1800" dirty="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100%</a:t>
                      </a:r>
                      <a:endParaRPr lang="en-IN" sz="1800" dirty="0"/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096">
                <a:tc>
                  <a:txBody>
                    <a:bodyPr/>
                    <a:lstStyle/>
                    <a:p>
                      <a:r>
                        <a:rPr lang="en-US" sz="1800" dirty="0"/>
                        <a:t>5.</a:t>
                      </a:r>
                      <a:endParaRPr lang="en-IN" sz="1800" dirty="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Testing and Validation</a:t>
                      </a:r>
                      <a:endParaRPr lang="en-IN" sz="1800" dirty="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100%</a:t>
                      </a:r>
                      <a:endParaRPr lang="en-IN" sz="1800" dirty="0"/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28792D-4F54-900E-BE53-323AC3BACB98}"/>
              </a:ext>
            </a:extLst>
          </p:cNvPr>
          <p:cNvSpPr/>
          <p:nvPr/>
        </p:nvSpPr>
        <p:spPr>
          <a:xfrm>
            <a:off x="0" y="6632575"/>
            <a:ext cx="12192000" cy="225425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7DACBC-8C78-E011-B6E3-614F8610AD4D}"/>
              </a:ext>
            </a:extLst>
          </p:cNvPr>
          <p:cNvSpPr/>
          <p:nvPr/>
        </p:nvSpPr>
        <p:spPr>
          <a:xfrm>
            <a:off x="3509963" y="-6350"/>
            <a:ext cx="5172075" cy="12858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316" name="TextBox 10">
            <a:extLst>
              <a:ext uri="{FF2B5EF4-FFF2-40B4-BE49-F238E27FC236}">
                <a16:creationId xmlns:a16="http://schemas.microsoft.com/office/drawing/2014/main" id="{6F7E1113-EF00-DD8F-07E3-0314C27DCA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2188" y="382588"/>
            <a:ext cx="102076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>
                <a:latin typeface="Georgia" panose="02040502050405020303" pitchFamily="18" charset="0"/>
              </a:rPr>
              <a:t>Paper preparation status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413209C-67BF-019D-92D2-1325DE1844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4678002"/>
              </p:ext>
            </p:extLst>
          </p:nvPr>
        </p:nvGraphicFramePr>
        <p:xfrm>
          <a:off x="2032000" y="1330325"/>
          <a:ext cx="8128000" cy="3216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63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6046">
                <a:tc>
                  <a:txBody>
                    <a:bodyPr/>
                    <a:lstStyle/>
                    <a:p>
                      <a:r>
                        <a:rPr lang="en-US" sz="1800" dirty="0" err="1"/>
                        <a:t>S.No</a:t>
                      </a:r>
                      <a:endParaRPr lang="en-IN" sz="1800" dirty="0"/>
                    </a:p>
                  </a:txBody>
                  <a:tcPr marT="45709" marB="4570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Description</a:t>
                      </a:r>
                      <a:endParaRPr lang="en-IN" sz="1800" dirty="0"/>
                    </a:p>
                  </a:txBody>
                  <a:tcPr marT="45709" marB="4570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Completion Status</a:t>
                      </a:r>
                      <a:endParaRPr lang="en-IN" sz="1800" dirty="0"/>
                    </a:p>
                  </a:txBody>
                  <a:tcPr marT="45709" marB="4570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6046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  <a:endParaRPr lang="en-IN" sz="1800" dirty="0"/>
                    </a:p>
                  </a:txBody>
                  <a:tcPr marT="45709" marB="4570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Abstract</a:t>
                      </a:r>
                      <a:endParaRPr lang="en-IN" sz="1800" dirty="0"/>
                    </a:p>
                  </a:txBody>
                  <a:tcPr marT="45709" marB="4570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Completed</a:t>
                      </a:r>
                      <a:endParaRPr lang="en-IN" sz="1800" dirty="0"/>
                    </a:p>
                  </a:txBody>
                  <a:tcPr marT="45709" marB="4570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6046"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  <a:endParaRPr lang="en-IN" sz="1800" dirty="0"/>
                    </a:p>
                  </a:txBody>
                  <a:tcPr marT="45709" marB="4570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Introduction Literature Survey</a:t>
                      </a:r>
                      <a:endParaRPr lang="en-IN" sz="1800" dirty="0"/>
                    </a:p>
                  </a:txBody>
                  <a:tcPr marT="45709" marB="4570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Completed</a:t>
                      </a:r>
                      <a:endParaRPr lang="en-IN" sz="1800" dirty="0"/>
                    </a:p>
                  </a:txBody>
                  <a:tcPr marT="45709" marB="4570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6046"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  <a:endParaRPr lang="en-IN" sz="1800" dirty="0"/>
                    </a:p>
                  </a:txBody>
                  <a:tcPr marT="45709" marB="4570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Proposed System</a:t>
                      </a:r>
                      <a:r>
                        <a:rPr lang="en-US" sz="1800" baseline="0" dirty="0"/>
                        <a:t> and Methodology</a:t>
                      </a:r>
                      <a:endParaRPr lang="en-IN" sz="1800" dirty="0"/>
                    </a:p>
                  </a:txBody>
                  <a:tcPr marT="45709" marB="4570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Completed</a:t>
                      </a:r>
                      <a:endParaRPr lang="en-IN" sz="1800" dirty="0"/>
                    </a:p>
                  </a:txBody>
                  <a:tcPr marT="45709" marB="4570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6046"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  <a:endParaRPr lang="en-IN" sz="1800" dirty="0"/>
                    </a:p>
                  </a:txBody>
                  <a:tcPr marT="45709" marB="4570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Experimental</a:t>
                      </a:r>
                      <a:r>
                        <a:rPr lang="en-US" sz="1800" baseline="0" dirty="0"/>
                        <a:t> results</a:t>
                      </a:r>
                      <a:endParaRPr lang="en-IN" sz="1800" dirty="0"/>
                    </a:p>
                  </a:txBody>
                  <a:tcPr marT="45709" marB="4570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Completed</a:t>
                      </a:r>
                      <a:endParaRPr lang="en-IN" sz="1800" dirty="0"/>
                    </a:p>
                  </a:txBody>
                  <a:tcPr marT="45709" marB="4570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6046"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  <a:endParaRPr lang="en-IN" sz="1800" dirty="0"/>
                    </a:p>
                  </a:txBody>
                  <a:tcPr marT="45709" marB="4570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Conclusion and Reference</a:t>
                      </a:r>
                      <a:endParaRPr lang="en-IN" sz="1800" dirty="0"/>
                    </a:p>
                  </a:txBody>
                  <a:tcPr marT="45709" marB="4570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Completed</a:t>
                      </a:r>
                      <a:endParaRPr lang="en-IN" sz="1800" dirty="0"/>
                    </a:p>
                  </a:txBody>
                  <a:tcPr marT="45709" marB="4570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056E6C-A349-C000-9161-76F32B5BAE30}"/>
              </a:ext>
            </a:extLst>
          </p:cNvPr>
          <p:cNvSpPr/>
          <p:nvPr/>
        </p:nvSpPr>
        <p:spPr>
          <a:xfrm>
            <a:off x="0" y="6632575"/>
            <a:ext cx="12192000" cy="225425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537AC8-3546-D400-6FF5-C870ADA9F3E8}"/>
              </a:ext>
            </a:extLst>
          </p:cNvPr>
          <p:cNvSpPr/>
          <p:nvPr/>
        </p:nvSpPr>
        <p:spPr>
          <a:xfrm>
            <a:off x="3509963" y="-6350"/>
            <a:ext cx="5172075" cy="12858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340" name="TextBox 10">
            <a:extLst>
              <a:ext uri="{FF2B5EF4-FFF2-40B4-BE49-F238E27FC236}">
                <a16:creationId xmlns:a16="http://schemas.microsoft.com/office/drawing/2014/main" id="{F5EC32DC-83E4-456A-3E1B-D6009EC05E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2188" y="382588"/>
            <a:ext cx="102076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>
                <a:latin typeface="Georgia" panose="02040502050405020303" pitchFamily="18" charset="0"/>
              </a:rPr>
              <a:t>REFERENCES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D94B3B9-74CA-4DEA-E42B-933C55F6F8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989911"/>
              </p:ext>
            </p:extLst>
          </p:nvPr>
        </p:nvGraphicFramePr>
        <p:xfrm>
          <a:off x="713581" y="1227138"/>
          <a:ext cx="10764837" cy="510676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143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50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1047">
                <a:tc>
                  <a:txBody>
                    <a:bodyPr/>
                    <a:lstStyle/>
                    <a:p>
                      <a:r>
                        <a:rPr lang="en-US" sz="1800" dirty="0"/>
                        <a:t>S.NO</a:t>
                      </a:r>
                    </a:p>
                  </a:txBody>
                  <a:tcPr marL="91439" marR="91439" marT="45703" marB="457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</a:t>
                      </a:r>
                      <a:r>
                        <a:rPr lang="en-US" sz="1800" baseline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DETAILS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03" marB="4570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420">
                <a:tc>
                  <a:txBody>
                    <a:bodyPr/>
                    <a:lstStyle/>
                    <a:p>
                      <a:pPr marL="400050" indent="-400050">
                        <a:buFont typeface="+mj-lt"/>
                        <a:buNone/>
                      </a:pPr>
                      <a:r>
                        <a:rPr lang="en-US" sz="1800" dirty="0"/>
                        <a:t>1.</a:t>
                      </a:r>
                    </a:p>
                  </a:txBody>
                  <a:tcPr marL="91439" marR="91439" marT="45703" marB="4570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R. Wang, C. Li, and Y. Wang, “A Broadband Variable-Gain Low-Noise Amplifier With Low Noise Figure,”</a:t>
                      </a:r>
                      <a:br>
                        <a:rPr lang="en-IN" dirty="0"/>
                      </a:br>
                      <a:r>
                        <a:rPr lang="en-IN" b="1" dirty="0"/>
                        <a:t>IEEE Transactions on Circuits and Systems II</a:t>
                      </a:r>
                      <a:r>
                        <a:rPr lang="en-IN" dirty="0"/>
                        <a:t>, 2023.</a:t>
                      </a:r>
                    </a:p>
                  </a:txBody>
                  <a:tcPr marT="45702" marB="4570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420">
                <a:tc>
                  <a:txBody>
                    <a:bodyPr/>
                    <a:lstStyle/>
                    <a:p>
                      <a:pPr marL="400050" indent="-400050">
                        <a:buFont typeface="+mj-lt"/>
                        <a:buNone/>
                      </a:pPr>
                      <a:r>
                        <a:rPr lang="en-US" sz="1800" dirty="0"/>
                        <a:t>2.</a:t>
                      </a:r>
                    </a:p>
                  </a:txBody>
                  <a:tcPr marL="91439" marR="91439" marT="45703" marB="4570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S. K. </a:t>
                      </a:r>
                      <a:r>
                        <a:rPr lang="en-IN" dirty="0" err="1"/>
                        <a:t>Khyalia</a:t>
                      </a:r>
                      <a:r>
                        <a:rPr lang="en-IN" dirty="0"/>
                        <a:t> et al., “A Low-Power Noise-</a:t>
                      </a:r>
                      <a:r>
                        <a:rPr lang="en-IN" dirty="0" err="1"/>
                        <a:t>Canceling</a:t>
                      </a:r>
                      <a:r>
                        <a:rPr lang="en-IN" dirty="0"/>
                        <a:t> CMOS LNA for RF Receivers,”</a:t>
                      </a:r>
                      <a:br>
                        <a:rPr lang="en-IN" dirty="0"/>
                      </a:br>
                      <a:r>
                        <a:rPr lang="en-IN" b="1" dirty="0"/>
                        <a:t>IEEE Transactions on Microwave Theory and Techniques</a:t>
                      </a:r>
                      <a:r>
                        <a:rPr lang="en-IN" dirty="0"/>
                        <a:t>, 2023.</a:t>
                      </a:r>
                    </a:p>
                  </a:txBody>
                  <a:tcPr marT="45702" marB="4570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420">
                <a:tc>
                  <a:txBody>
                    <a:bodyPr/>
                    <a:lstStyle/>
                    <a:p>
                      <a:pPr marL="400050" indent="-400050">
                        <a:buFont typeface="+mj-lt"/>
                        <a:buNone/>
                      </a:pPr>
                      <a:r>
                        <a:rPr lang="en-US" sz="1800" dirty="0"/>
                        <a:t>3.</a:t>
                      </a:r>
                    </a:p>
                  </a:txBody>
                  <a:tcPr marL="91439" marR="91439" marT="45703" marB="4570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Y.-T. Chang and W.-J. Lin, “A Low-Power Variable-Gain CMOS LNA for RF Front-Ends,”</a:t>
                      </a:r>
                      <a:br>
                        <a:rPr lang="en-IN" dirty="0"/>
                      </a:br>
                      <a:r>
                        <a:rPr lang="en-IN" b="1" dirty="0"/>
                        <a:t>IEEE Solid-State Circuits Letters</a:t>
                      </a:r>
                      <a:r>
                        <a:rPr lang="en-IN" dirty="0"/>
                        <a:t>, 2024.</a:t>
                      </a:r>
                    </a:p>
                  </a:txBody>
                  <a:tcPr marT="45702" marB="4570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4420">
                <a:tc>
                  <a:txBody>
                    <a:bodyPr/>
                    <a:lstStyle/>
                    <a:p>
                      <a:pPr marL="400050" indent="-400050">
                        <a:buFont typeface="+mj-lt"/>
                        <a:buNone/>
                      </a:pPr>
                      <a:r>
                        <a:rPr lang="en-US" sz="1800" dirty="0"/>
                        <a:t>4.</a:t>
                      </a:r>
                    </a:p>
                  </a:txBody>
                  <a:tcPr marL="91439" marR="91439" marT="45703" marB="4570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J. Ke et al., “A High-Gain CMOS LNA With Transformer-Based Matching,”</a:t>
                      </a:r>
                      <a:br>
                        <a:rPr lang="en-IN" dirty="0"/>
                      </a:br>
                      <a:r>
                        <a:rPr lang="en-IN" b="1" dirty="0"/>
                        <a:t>IEEE Journal of Solid-State Circuits</a:t>
                      </a:r>
                      <a:r>
                        <a:rPr lang="en-IN" dirty="0"/>
                        <a:t>, 2024.</a:t>
                      </a:r>
                    </a:p>
                  </a:txBody>
                  <a:tcPr marT="45702" marB="4570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4420">
                <a:tc>
                  <a:txBody>
                    <a:bodyPr/>
                    <a:lstStyle/>
                    <a:p>
                      <a:pPr marL="400050" indent="-400050">
                        <a:buFont typeface="+mj-lt"/>
                        <a:buNone/>
                      </a:pPr>
                      <a:r>
                        <a:rPr lang="en-US" sz="1800" dirty="0"/>
                        <a:t>5.</a:t>
                      </a:r>
                    </a:p>
                  </a:txBody>
                  <a:tcPr marL="91439" marR="91439" marT="45703" marB="4570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K.-S. Choi et al., “A High-Gain Low-Noise CMOS Receiver Front-End,”</a:t>
                      </a:r>
                      <a:br>
                        <a:rPr lang="en-IN" dirty="0"/>
                      </a:br>
                      <a:r>
                        <a:rPr lang="en-IN" b="1" dirty="0"/>
                        <a:t>IEEE Transactions on Microwave Theory and Techniques</a:t>
                      </a:r>
                      <a:r>
                        <a:rPr lang="en-IN" dirty="0"/>
                        <a:t>, 2024.</a:t>
                      </a:r>
                    </a:p>
                  </a:txBody>
                  <a:tcPr marT="45702" marB="4570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980">
                <a:tc>
                  <a:txBody>
                    <a:bodyPr/>
                    <a:lstStyle/>
                    <a:p>
                      <a:pPr marL="400050" indent="-400050">
                        <a:buFont typeface="+mj-lt"/>
                        <a:buNone/>
                      </a:pPr>
                      <a:endParaRPr lang="en-US" sz="1800" dirty="0"/>
                    </a:p>
                  </a:txBody>
                  <a:tcPr marL="91439" marR="91439" marT="45703" marB="45703"/>
                </a:tc>
                <a:tc>
                  <a:txBody>
                    <a:bodyPr/>
                    <a:lstStyle/>
                    <a:p>
                      <a:endParaRPr lang="en-IN" sz="18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07" marB="4570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7640">
                <a:tc>
                  <a:txBody>
                    <a:bodyPr/>
                    <a:lstStyle/>
                    <a:p>
                      <a:pPr marL="400050" indent="-400050">
                        <a:buFont typeface="+mj-lt"/>
                        <a:buNone/>
                      </a:pPr>
                      <a:endParaRPr lang="en-US" sz="1800" dirty="0"/>
                    </a:p>
                  </a:txBody>
                  <a:tcPr marL="91439" marR="91439" marT="45703" marB="4570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800" i="0" dirty="0">
                        <a:highlight>
                          <a:srgbClr val="C0C0C0"/>
                        </a:highligh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02" marB="45702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9E1DB73A-3447-D6BB-C431-6890234BB2D9}"/>
              </a:ext>
            </a:extLst>
          </p:cNvPr>
          <p:cNvSpPr/>
          <p:nvPr/>
        </p:nvSpPr>
        <p:spPr>
          <a:xfrm>
            <a:off x="713580" y="5331125"/>
            <a:ext cx="10764837" cy="12508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1">
      <a:dk1>
        <a:sysClr val="windowText" lastClr="000000"/>
      </a:dk1>
      <a:lt1>
        <a:sysClr val="window" lastClr="FFFFFF"/>
      </a:lt1>
      <a:dk2>
        <a:srgbClr val="44546A"/>
      </a:dk2>
      <a:lt2>
        <a:srgbClr val="7030A0"/>
      </a:lt2>
      <a:accent1>
        <a:srgbClr val="F23558"/>
      </a:accent1>
      <a:accent2>
        <a:srgbClr val="0D7AD9"/>
      </a:accent2>
      <a:accent3>
        <a:srgbClr val="75B503"/>
      </a:accent3>
      <a:accent4>
        <a:srgbClr val="F2A950"/>
      </a:accent4>
      <a:accent5>
        <a:srgbClr val="F25E3D"/>
      </a:accent5>
      <a:accent6>
        <a:srgbClr val="00B0F0"/>
      </a:accent6>
      <a:hlink>
        <a:srgbClr val="BF2424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project_phase_1[1]</Template>
  <TotalTime>406</TotalTime>
  <Words>793</Words>
  <Application>Microsoft Office PowerPoint</Application>
  <PresentationFormat>Widescreen</PresentationFormat>
  <Paragraphs>167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Arial Black</vt:lpstr>
      <vt:lpstr>Calibri</vt:lpstr>
      <vt:lpstr>Calibri Light</vt:lpstr>
      <vt:lpstr>Georgia</vt:lpstr>
      <vt:lpstr>Georgia Pro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hariharan s</dc:creator>
  <cp:lastModifiedBy>Syed Afridi</cp:lastModifiedBy>
  <cp:revision>82</cp:revision>
  <dcterms:created xsi:type="dcterms:W3CDTF">2025-07-24T04:18:59Z</dcterms:created>
  <dcterms:modified xsi:type="dcterms:W3CDTF">2026-03-30T09:57:16Z</dcterms:modified>
</cp:coreProperties>
</file>